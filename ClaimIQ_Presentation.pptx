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84048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12188952" cy="73152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ClaimIQ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8F4FD"/>
                </a:solidFill>
                <a:latin typeface="Calibri"/>
              </a:rPr>
              <a:t>AI-Powered Healthcare Claim Review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  <a:latin typeface="Calibri"/>
              </a:rPr>
              <a:t>Intelligent · Transparent · Human-Supervised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8F4FD"/>
                </a:solidFill>
                <a:latin typeface="Calibri"/>
              </a:rPr>
              <a:t>AWS AI &amp; ML Capstone Project  |  June 28,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10908792" cy="384048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1868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18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218688"/>
            <a:ext cx="8549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84448"/>
            <a:ext cx="1090879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3016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63016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Sushilkumar Nikam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363016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Team Lead, Architect &amp; AI/ML Engineer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059935"/>
            <a:ext cx="10908792" cy="4572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05655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105655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Anupam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4105655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RAG Pipeline Engineer &amp; Data Engineer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535424"/>
            <a:ext cx="1090879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8114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58114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Ashish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4581144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AI/ML Engineer &amp; LangGraph Workflow Architect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010912"/>
            <a:ext cx="10908792" cy="4572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05663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05663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Bishwajit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505663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Full Stack Developer, AI/ML Engineer &amp; AWS Infrastructure Engineer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486400"/>
            <a:ext cx="1090879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5321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Arvind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553212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AI/ML Engineer &amp; Backend Developer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961888"/>
            <a:ext cx="10908792" cy="4572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007607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6007607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Azim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6007607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AI/ML Engineer &amp; Backend Developer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Healthcare claim processing is broken — and expensive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66"/>
                </a:solidFill>
                <a:latin typeface="Calibri"/>
              </a:rPr>
              <a:t>Insurance carriers spend $30–$50 per claim in manual processing costs. Even a 10 % reduction translates to billions in annual savings.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384048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105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⏱  Processing Delays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21408"/>
            <a:ext cx="36576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15–30 days average per claim due to manual review queues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1104" y="1737360"/>
            <a:ext cx="384048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105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❌  High Error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2544" y="2121408"/>
            <a:ext cx="36576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Manual data entry mistakes in ICD-10 / CPT coding cause incorrect rejections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737360"/>
            <a:ext cx="384048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18105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⚖  Inconsistency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21408"/>
            <a:ext cx="36576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Different adjusters reach different decisions on identical claims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200400"/>
            <a:ext cx="384048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735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📋  Poor Audit Trail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584448"/>
            <a:ext cx="36576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Decisions tracked via paper notes and email chains — not auditable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3200400"/>
            <a:ext cx="384048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2544" y="32735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🔍  Fraud Exposure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2544" y="3584448"/>
            <a:ext cx="36576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Manual reviewers cannot cross-reference all historical claims simultaneously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3200400"/>
            <a:ext cx="384048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8" y="32735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😓  Reviewer Burnout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3584448"/>
            <a:ext cx="36576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High-volume, repetitive review tasks reduce accuracy over 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40312" cy="841248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15584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Core Gap: No unified system that can extract, validate, retrieve policy context, recommend a decision, and present it to a human — in a single automated workflow.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Selected Theme &amp; Domain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2344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66"/>
                </a:solidFill>
                <a:latin typeface="Calibri"/>
              </a:rPr>
              <a:t>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6EBD"/>
                </a:solidFill>
                <a:latin typeface="Calibri"/>
              </a:rPr>
              <a:t>🏥  Healthcare &amp; Insurance Technology (HealthTech / InsurTech)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6596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Insurance claim review automation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HIPAA-compliant data processing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AI-assisted decision support for claims adjusters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Fraud detection and compliance enforcement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143000"/>
            <a:ext cx="5669280" cy="2560320"/>
          </a:xfrm>
          <a:prstGeom prst="rect">
            <a:avLst/>
          </a:prstGeom>
          <a:solidFill>
            <a:srgbClr val="E8F4FD"/>
          </a:solidFill>
          <a:ln w="19050">
            <a:solidFill>
              <a:srgbClr val="0A6E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2344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66"/>
                </a:solidFill>
                <a:latin typeface="Calibri"/>
              </a:rPr>
              <a:t>Theme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6EBD"/>
                </a:solidFill>
                <a:latin typeface="Calibri"/>
              </a:rPr>
              <a:t>🤖  Agentic AI with Human-in-the-Loop Oversight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6596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Multiple specialised AI agents collaborate in a defined workflow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Each agent performs a distinct role: extract → validate → recommend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LangGraph orchestrates the multi-agent pipeline as a StateGraph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Mandatory human approval gate before every final decision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All decisions are auditable and overridable by human reviewers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886200"/>
            <a:ext cx="116403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5935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6EBD"/>
                </a:solidFill>
                <a:latin typeface="Calibri"/>
              </a:rPr>
              <a:t>Why This Domain + Theme Combination?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25112"/>
            <a:ext cx="112745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Healthcare claims are document-heavy, rule-intensive, and high-stakes — ideal for structured multi-agent AI.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Policy rules change frequently — RAG lets the system stay current without retraining the model.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• Financial and patient-care consequences demand human oversight — the Human-in-the-Loop gate ensures AI is advisory, not authoritative.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ClaimIQ — end-to-end AI claim review in under 20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66"/>
                </a:solidFill>
                <a:latin typeface="Calibri"/>
              </a:rPr>
              <a:t>ClaimIQ is an AI-powered, multi-agent healthcare claim review system that orchestrates four specialised AI agents using LangGraph, enhanced by a RAG knowledge base of insurance policy documents, culminating in a human-supervised final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2651760" cy="169164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0195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D"/>
                </a:solidFill>
                <a:latin typeface="Calibri"/>
              </a:rPr>
              <a:t>Agent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21408"/>
            <a:ext cx="2468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OCR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633472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F4FD"/>
                </a:solidFill>
                <a:latin typeface="Calibri"/>
              </a:rPr>
              <a:t>pdfplumber +
GPT-4o-mini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090672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Extracts 15 structured
fields from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1" y="251460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8CD8"/>
                </a:solidFill>
                <a:latin typeface="Calibr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79" y="1828800"/>
            <a:ext cx="2651760" cy="169164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90195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D"/>
                </a:solidFill>
                <a:latin typeface="Calibri"/>
              </a:rPr>
              <a:t>Agent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21408"/>
            <a:ext cx="2468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633472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F4FD"/>
                </a:solidFill>
                <a:latin typeface="Calibri"/>
              </a:rPr>
              <a:t>Rule-based
logic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090672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Checks 12 fields,
codes &amp; dates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33872" y="251460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8CD8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828800"/>
            <a:ext cx="2651760" cy="169164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79" y="190195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D"/>
                </a:solidFill>
                <a:latin typeface="Calibri"/>
              </a:rPr>
              <a:t>Agent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9" y="2121408"/>
            <a:ext cx="2468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Recommendation
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9" y="2633472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F4FD"/>
                </a:solidFill>
                <a:latin typeface="Calibri"/>
              </a:rPr>
              <a:t>RAG + GPT-4o-mini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090672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Policy-grounded
APPROVE/REJECT/REVIEW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4232" y="251460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8CD8"/>
                </a:solidFill>
                <a:latin typeface="Calibri"/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828800"/>
            <a:ext cx="2651760" cy="1691640"/>
          </a:xfrm>
          <a:prstGeom prst="rect">
            <a:avLst/>
          </a:prstGeom>
          <a:solidFill>
            <a:srgbClr val="00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190195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Human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21408"/>
            <a:ext cx="2468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Human Approval
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2633472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Calibri"/>
              </a:rPr>
              <a:t>Streamlit 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090672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Reviewer confirms
or overrides AI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703320"/>
            <a:ext cx="283464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764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🔍 Transparent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087368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Every recommendation cites the exact policy clause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36976" y="3703320"/>
            <a:ext cx="283464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28416" y="37764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👤 Human Control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28416" y="4087368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AI never finalises a claim unilaterally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3703320"/>
            <a:ext cx="283464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37764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🛡 Graceful Degradation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4087368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Works even if OpenAI or S3 is unavailable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3703320"/>
            <a:ext cx="283464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3728" y="37764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📁 Full Audit Trail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53728" y="4087368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2E"/>
                </a:solidFill>
                <a:latin typeface="Calibri"/>
              </a:rPr>
              <a:t>Every decision stored as timestamped 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Three-layer design: UI → Orchestration →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" y="1325880"/>
            <a:ext cx="960120" cy="123444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1417320"/>
            <a:ext cx="90525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USER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" y="2788920"/>
            <a:ext cx="960120" cy="123444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2880360"/>
            <a:ext cx="90525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ORCHESTRATION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" y="4572000"/>
            <a:ext cx="960120" cy="123444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4663440"/>
            <a:ext cx="90525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SERVICES LAYER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1280160"/>
            <a:ext cx="10652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1389888"/>
            <a:ext cx="2377440" cy="804672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14264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Process New Claim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17373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Upload PDF / select sample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1389888"/>
            <a:ext cx="2377440" cy="804672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69079" y="14264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Review &amp; Approve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79" y="17373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Human Approval Gate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389888"/>
            <a:ext cx="2377440" cy="804672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4264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Claims History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7373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Dashboard &amp; metrics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1389888"/>
            <a:ext cx="2377440" cy="804672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4264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About / Info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7373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66"/>
                </a:solidFill>
                <a:latin typeface="Calibri"/>
              </a:rPr>
              <a:t>System status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6334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8CD8"/>
                </a:solidFill>
                <a:latin typeface="Calibri"/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2743200"/>
            <a:ext cx="10652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2788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LangGraph StateGraph  (ClaimState)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090672"/>
            <a:ext cx="2377440" cy="80467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44752" y="3246120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OCR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340156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3090672"/>
            <a:ext cx="2377440" cy="80467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0791" y="3246120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Validation 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340156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3090672"/>
            <a:ext cx="2377440" cy="80467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56832" y="3246120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Recommendation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552" y="340156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89720" y="3090672"/>
            <a:ext cx="2377440" cy="804672"/>
          </a:xfrm>
          <a:prstGeom prst="rect">
            <a:avLst/>
          </a:prstGeom>
          <a:solidFill>
            <a:srgbClr val="00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62872" y="3246120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Human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4114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8CD8"/>
                </a:solidFill>
                <a:latin typeface="Calibri"/>
              </a:rPr>
              <a:t>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114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8CD8"/>
                </a:solidFill>
                <a:latin typeface="Calibri"/>
              </a:rPr>
              <a:t>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4114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8CD8"/>
                </a:solidFill>
                <a:latin typeface="Calibri"/>
              </a:rPr>
              <a:t>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0" y="4407408"/>
            <a:ext cx="3200400" cy="1371600"/>
          </a:xfrm>
          <a:prstGeom prst="rect">
            <a:avLst/>
          </a:prstGeom>
          <a:solidFill>
            <a:srgbClr val="E8F4FD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81328" y="4462272"/>
            <a:ext cx="2980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AI Services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81328" y="4773168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• OpenAI GPT-4o-mini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81328" y="5120640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• text-embedding-3-small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407408"/>
            <a:ext cx="3200400" cy="1371600"/>
          </a:xfrm>
          <a:prstGeom prst="rect">
            <a:avLst/>
          </a:prstGeom>
          <a:solidFill>
            <a:srgbClr val="E8F4FD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10328" y="4462272"/>
            <a:ext cx="2980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Knowledge Base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10328" y="4773168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• ChromaDB Vector Store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0328" y="5120640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• 3 Policy PDFs (~150 chunks)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4407408"/>
            <a:ext cx="3200400" cy="1371600"/>
          </a:xfrm>
          <a:prstGeom prst="rect">
            <a:avLst/>
          </a:prstGeom>
          <a:solidFill>
            <a:srgbClr val="E8F4FD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39327" y="4462272"/>
            <a:ext cx="2980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Storage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9327" y="4773168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• Local JSON (data/outputs/)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39327" y="5120640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• AWS S3 (optional cloud)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7160" y="5888736"/>
            <a:ext cx="11795760" cy="77724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5943600"/>
            <a:ext cx="116128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Data Flow: PDF Upload → OCR → Validation → RAG Retrieval → LLM Recommendation → Human Approval → S3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Agent Workflow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LangGraph StateGraph — four nodes, one shared ClaimState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64592" cy="1298448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88" y="1188720"/>
            <a:ext cx="11411711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43584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6EBD"/>
                </a:solidFill>
                <a:latin typeface="Calibri"/>
              </a:rPr>
              <a:t>Agent 1 — OCR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2435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66"/>
                </a:solidFill>
                <a:latin typeface="Calibri"/>
              </a:rPr>
              <a:t>src/agents/ocr_agent.py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727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Opens PDF with pdfplumber, extracts raw text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Calls GPT-4o-mini with response_format=json_object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Returns 15 structured fields (patient, provider, codes, amounts)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Sets confidence: HIGH (12+ fields) / MEDIUM / 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78608"/>
            <a:ext cx="164592" cy="1298448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578608"/>
            <a:ext cx="11411711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33472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8CD8"/>
                </a:solidFill>
                <a:latin typeface="Calibri"/>
              </a:rPr>
              <a:t>Agent 2 — Validation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334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66"/>
                </a:solidFill>
                <a:latin typeface="Calibri"/>
              </a:rPr>
              <a:t>src/agents/validation_agent.py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962656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Checks 6 mandatory fields — any missing → severity HIGH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Checks 6 important fields — missing → severity MEDIUM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Validates ICD-10, CPT, NPI formats via regex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Validates date logic: treatment ≤ claim date, filed within 365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968496"/>
            <a:ext cx="164592" cy="1298448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" y="3968496"/>
            <a:ext cx="11411711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23359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6EBD"/>
                </a:solidFill>
                <a:latin typeface="Calibri"/>
              </a:rPr>
              <a:t>Agent 3 — Recommendation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023359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66"/>
                </a:solidFill>
                <a:latin typeface="Calibri"/>
              </a:rPr>
              <a:t>src/agents/recommendation_agent.py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352544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Fast-path rules: duplicate, dental, experimental, &gt;$25K → instant decision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Retrieves top-5 policy chunks from ChromaDB via cosine similarity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Calls GPT-4o-mini with claim data + policy context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Returns APPROVE / REJECT / MANUAL_REVIEW with citations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58384"/>
            <a:ext cx="164592" cy="1298448"/>
          </a:xfrm>
          <a:prstGeom prst="rect">
            <a:avLst/>
          </a:prstGeom>
          <a:solidFill>
            <a:srgbClr val="00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358384"/>
            <a:ext cx="11411711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413248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B55"/>
                </a:solidFill>
                <a:latin typeface="Calibri"/>
              </a:rPr>
              <a:t>Human Approval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413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555566"/>
                </a:solidFill>
                <a:latin typeface="Calibri"/>
              </a:rPr>
              <a:t>app.py + finalize_claim()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7424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Pipeline pauses at awaiting_human_approval = True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Reviewer sees extracted fields, validation results, AI recommendation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Can Approve, Reject, or Override (override requires written justification)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finalize_claim() persists decision as timestamped JSON + S3 upload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RAG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Retrieval-Augmented Generation — grounding AI in current policy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403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66"/>
                </a:solidFill>
                <a:latin typeface="Calibri"/>
              </a:rPr>
              <a:t>Policy documents change — RAG lets the system use current rules without retraining the model. Every recommendation includes the exact policy clause that justified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09928"/>
            <a:ext cx="11640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INGESTION PIPELINE  (scripts/ingest_documents.py)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2103120" cy="914400"/>
          </a:xfrm>
          <a:prstGeom prst="rect">
            <a:avLst/>
          </a:prstGeom>
          <a:solidFill>
            <a:srgbClr val="E8F4FD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2148840"/>
            <a:ext cx="19568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📄 Policy PDFs
(3 documents)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7" y="233172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2032" y="2057400"/>
            <a:ext cx="2103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5184" y="2148840"/>
            <a:ext cx="19568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📝 Text Extraction
(pdfplumber)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33172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9744" y="2057400"/>
            <a:ext cx="2103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148840"/>
            <a:ext cx="19568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✂️  Text Chunking
800 chars / 100 overlap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1" y="233172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77455" y="2057400"/>
            <a:ext cx="2103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50607" y="2148840"/>
            <a:ext cx="19568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🔢 OpenAI Embeddings
text-embedding-3-small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3" y="233172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5168" y="2057400"/>
            <a:ext cx="2103120" cy="914400"/>
          </a:xfrm>
          <a:prstGeom prst="rect">
            <a:avLst/>
          </a:prstGeom>
          <a:solidFill>
            <a:srgbClr val="E8F4FD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2148840"/>
            <a:ext cx="19568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🗄 ChromaDB
~150 chunks persisted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108960"/>
            <a:ext cx="11640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RETRIEVAL PIPELINE  (at claim review time)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456432"/>
            <a:ext cx="2103120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529584"/>
            <a:ext cx="19568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📋 Claim Fields
(extracted)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95727" y="37764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42032" y="3456432"/>
            <a:ext cx="2103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15184" y="3529584"/>
            <a:ext cx="19568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🔍 Build Query String
diagnosis + procedure
+ amount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7764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9744" y="3456432"/>
            <a:ext cx="2103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2896" y="3529584"/>
            <a:ext cx="19568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🔢 Query Embedding
text-embedding-3-small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37764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77455" y="3456432"/>
            <a:ext cx="2103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50607" y="3529584"/>
            <a:ext cx="19568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📊 ChromaDB Search
top-5 cosine similarity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8863" y="3776472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8C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45168" y="3456432"/>
            <a:ext cx="2103120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0" y="3529584"/>
            <a:ext cx="19568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💡 Inject into
LLM Prompt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599431"/>
            <a:ext cx="530352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65429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Embedding Model Details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4983479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Model: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0" y="4983479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text-embedding-3-small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212079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Dimensions: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0" y="5212079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40679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Retrieval top-k: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11680" y="5440679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5  (cosine similarity)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5669279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Chunk size: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1680" y="5669279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800 chars / 100 overlap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4599431"/>
            <a:ext cx="5943600" cy="1353312"/>
          </a:xfrm>
          <a:prstGeom prst="rect">
            <a:avLst/>
          </a:prstGeom>
          <a:solidFill>
            <a:srgbClr val="E8F4FD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4654295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🛡 Fallback Strategy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983479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If ChromaDB is unavailable or index is empty, the retriever returns a hard-coded FALLBACK_POLICY_CONTEXT with key rules extracted from all three policy documents — ensuring the Recommendation Agent always has some policy grounding.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AWS Deployment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Two patterns: EC2 Docker Compose (dev) and ECS Fargate (production)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577840" cy="4434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A6E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577840" cy="34747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1795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Pattern A — EC2 + Docker Compose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58191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Instance: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8191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Ubuntu 22.04, t3.medium (2 vCPU / 4 GB)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Storage: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4767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 GB gp3 EBS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1343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Region: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3134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us-east-1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6791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Access: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67919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Port 8501 (Streamlit) / 80+443 (Nginx)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04495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6EBD"/>
                </a:solidFill>
                <a:latin typeface="Calibri"/>
              </a:rPr>
              <a:t>Use Case: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04495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Development, demos, low cost (~$30/mo)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474720"/>
            <a:ext cx="530352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5204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ourier New"/>
              </a:rPr>
              <a:t>services:
  claimiq:
    build: .
    ports: ["8501:8501"]
    env_file: .env
    volumes: [./data:/app/data]
    restart: unless-stopped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36792" y="1143000"/>
            <a:ext cx="5577840" cy="4434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36792" y="1143000"/>
            <a:ext cx="5577840" cy="347472"/>
          </a:xfrm>
          <a:prstGeom prst="rect">
            <a:avLst/>
          </a:prstGeom>
          <a:solidFill>
            <a:srgbClr val="009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795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Pattern B — ECS Fargate + ALB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158191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B55"/>
                </a:solidFill>
                <a:latin typeface="Calibri"/>
              </a:rPr>
              <a:t>Compute: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1581912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ECS Fargate — 1 vCPU / 2 GB Memory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9476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B55"/>
                </a:solidFill>
                <a:latin typeface="Calibri"/>
              </a:rPr>
              <a:t>Registry: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1947672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Amazon ECR — Docker image 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231343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B55"/>
                </a:solidFill>
                <a:latin typeface="Calibri"/>
              </a:rPr>
              <a:t>Secrets: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2313432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AWS Secrets Manager (OpenAI key)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267919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B55"/>
                </a:solidFill>
                <a:latin typeface="Calibri"/>
              </a:rPr>
              <a:t>Load Bal.: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2679192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ALB → port 80/443 → target 8501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304495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B55"/>
                </a:solidFill>
                <a:latin typeface="Calibri"/>
              </a:rPr>
              <a:t>Logs: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45552" y="3044952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CloudWatch /ecs/claimiq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341071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B55"/>
                </a:solidFill>
                <a:latin typeface="Calibri"/>
              </a:rPr>
              <a:t>Use Case: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3410712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Production auto-scaling (~$40/mo)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5715000"/>
            <a:ext cx="11640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6EBD"/>
                </a:solidFill>
                <a:latin typeface="Calibri"/>
              </a:rPr>
              <a:t>AWS Services Used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062472"/>
            <a:ext cx="1371600" cy="475488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611733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6EBD"/>
                </a:solidFill>
                <a:latin typeface="Calibri"/>
              </a:rPr>
              <a:t>EC2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55648" y="6062472"/>
            <a:ext cx="1371600" cy="475488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10512" y="611733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6EBD"/>
                </a:solidFill>
                <a:latin typeface="Calibri"/>
              </a:rPr>
              <a:t>ECS Fargate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6976" y="6062472"/>
            <a:ext cx="1371600" cy="475488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0" y="611733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6EBD"/>
                </a:solidFill>
                <a:latin typeface="Calibri"/>
              </a:rPr>
              <a:t>ECR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18304" y="6062472"/>
            <a:ext cx="1371600" cy="475488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73168" y="611733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6EBD"/>
                </a:solidFill>
                <a:latin typeface="Calibri"/>
              </a:rPr>
              <a:t>S3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9632" y="6062472"/>
            <a:ext cx="1371600" cy="475488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611733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6EBD"/>
                </a:solidFill>
                <a:latin typeface="Calibri"/>
              </a:rPr>
              <a:t>Secrets Manager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60" y="6062472"/>
            <a:ext cx="1371600" cy="475488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35824" y="611733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6EBD"/>
                </a:solidFill>
                <a:latin typeface="Calibri"/>
              </a:rPr>
              <a:t>IAM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6062472"/>
            <a:ext cx="1371600" cy="475488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17152" y="611733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6EBD"/>
                </a:solidFill>
                <a:latin typeface="Calibri"/>
              </a:rPr>
              <a:t>ALB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43616" y="6062472"/>
            <a:ext cx="1371600" cy="475488"/>
          </a:xfrm>
          <a:prstGeom prst="rect">
            <a:avLst/>
          </a:prstGeom>
          <a:solidFill>
            <a:srgbClr val="E8F4FD"/>
          </a:solidFill>
          <a:ln w="1016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98480" y="611733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6EBD"/>
                </a:solidFill>
                <a:latin typeface="Calibri"/>
              </a:rPr>
              <a:t>CloudWatch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Demo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Streamlit web application — five key screens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240280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24328" y="1188720"/>
            <a:ext cx="2240280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74336" y="1188720"/>
            <a:ext cx="2240280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3657600" cy="2286000"/>
          </a:xfrm>
          <a:prstGeom prst="rect">
            <a:avLst/>
          </a:prstGeom>
          <a:ln w="12700">
            <a:solidFill>
              <a:srgbClr val="0A6EBD"/>
            </a:solidFill>
          </a:ln>
        </p:spPr>
      </p:pic>
      <p:sp>
        <p:nvSpPr>
          <p:cNvPr id="31" name="TextBox 30"/>
          <p:cNvSpPr txBox="1"/>
          <p:nvPr/>
        </p:nvSpPr>
        <p:spPr>
          <a:xfrm>
            <a:off x="274320" y="35295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6EBD"/>
                </a:solidFill>
                <a:latin typeface="Calibri"/>
              </a:rPr>
              <a:t>1. Home — Upload &amp; System Status</a:t>
            </a:r>
          </a:p>
        </p:txBody>
      </p:sp>
      <p:pic>
        <p:nvPicPr>
          <p:cNvPr id="32" name="Picture 31" descr="03_pipeline_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652" y="1207008"/>
            <a:ext cx="3657600" cy="2286000"/>
          </a:xfrm>
          <a:prstGeom prst="rect">
            <a:avLst/>
          </a:prstGeom>
          <a:ln w="12700">
            <a:solidFill>
              <a:srgbClr val="0A6EBD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4073652" y="35295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6EBD"/>
                </a:solidFill>
                <a:latin typeface="Calibri"/>
              </a:rPr>
              <a:t>2. AI Pipeline — OCR Extraction Results</a:t>
            </a:r>
          </a:p>
        </p:txBody>
      </p:sp>
      <p:pic>
        <p:nvPicPr>
          <p:cNvPr id="34" name="Picture 33" descr="03_pipeline_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2983" y="1207008"/>
            <a:ext cx="3657600" cy="2286000"/>
          </a:xfrm>
          <a:prstGeom prst="rect">
            <a:avLst/>
          </a:prstGeom>
          <a:ln w="12700">
            <a:solidFill>
              <a:srgbClr val="0A6EBD"/>
            </a:solidFill>
          </a:ln>
        </p:spPr>
      </p:pic>
      <p:sp>
        <p:nvSpPr>
          <p:cNvPr id="35" name="TextBox 34"/>
          <p:cNvSpPr txBox="1"/>
          <p:nvPr/>
        </p:nvSpPr>
        <p:spPr>
          <a:xfrm>
            <a:off x="7872983" y="35295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6EBD"/>
                </a:solidFill>
                <a:latin typeface="Calibri"/>
              </a:rPr>
              <a:t>3. AI Recommendation &amp; Policy Citations</a:t>
            </a:r>
          </a:p>
        </p:txBody>
      </p:sp>
      <p:pic>
        <p:nvPicPr>
          <p:cNvPr id="36" name="Picture 35" descr="08_claims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010" y="3931920"/>
            <a:ext cx="3657600" cy="2286000"/>
          </a:xfrm>
          <a:prstGeom prst="rect">
            <a:avLst/>
          </a:prstGeom>
          <a:ln w="12700">
            <a:solidFill>
              <a:srgbClr val="0A6EBD"/>
            </a:solidFill>
          </a:ln>
        </p:spPr>
      </p:pic>
      <p:sp>
        <p:nvSpPr>
          <p:cNvPr id="37" name="TextBox 36"/>
          <p:cNvSpPr txBox="1"/>
          <p:nvPr/>
        </p:nvSpPr>
        <p:spPr>
          <a:xfrm>
            <a:off x="2366010" y="6254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6EBD"/>
                </a:solidFill>
                <a:latin typeface="Calibri"/>
              </a:rPr>
              <a:t>4. Claims History Dashboard</a:t>
            </a:r>
          </a:p>
        </p:txBody>
      </p:sp>
      <p:pic>
        <p:nvPicPr>
          <p:cNvPr id="38" name="Picture 37" descr="09_ab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5342" y="3931920"/>
            <a:ext cx="3657600" cy="2286000"/>
          </a:xfrm>
          <a:prstGeom prst="rect">
            <a:avLst/>
          </a:prstGeom>
          <a:ln w="12700">
            <a:solidFill>
              <a:srgbClr val="0A6EBD"/>
            </a:solidFill>
          </a:ln>
        </p:spPr>
      </p:pic>
      <p:sp>
        <p:nvSpPr>
          <p:cNvPr id="39" name="TextBox 38"/>
          <p:cNvSpPr txBox="1"/>
          <p:nvPr/>
        </p:nvSpPr>
        <p:spPr>
          <a:xfrm>
            <a:off x="6165342" y="6254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6EBD"/>
                </a:solidFill>
                <a:latin typeface="Calibri"/>
              </a:rPr>
              <a:t>5. About &amp; System Information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Outcomes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100 % accuracy on all 10 synthetic claim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2697480" cy="132588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94.1 %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92807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F4FD"/>
                </a:solidFill>
                <a:latin typeface="Calibri"/>
              </a:rPr>
              <a:t>Average OCR
Field Extraction 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1143000"/>
            <a:ext cx="2697480" cy="132588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28016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892807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F4FD"/>
                </a:solidFill>
                <a:latin typeface="Calibri"/>
              </a:rPr>
              <a:t>Validation Severity
Accuracy (10/10)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143000"/>
            <a:ext cx="2697480" cy="132588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892807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F4FD"/>
                </a:solidFill>
                <a:latin typeface="Calibri"/>
              </a:rPr>
              <a:t>Recommendation
Accuracy (10/10)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1143000"/>
            <a:ext cx="2697480" cy="132588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128016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&lt; 20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1892807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F4FD"/>
                </a:solidFill>
                <a:latin typeface="Calibri"/>
              </a:rPr>
              <a:t>End-to-End
Processing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606040"/>
            <a:ext cx="11640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6EBD"/>
                </a:solidFill>
                <a:latin typeface="Calibri"/>
              </a:rPr>
              <a:t>Business Impact — Manual Process vs ClaimIQ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953512"/>
            <a:ext cx="11640312" cy="34747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999232"/>
            <a:ext cx="2999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2152" y="2999232"/>
            <a:ext cx="2724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Manual 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999232"/>
            <a:ext cx="2542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ClaimIQ (AI)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2999232"/>
            <a:ext cx="2816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Improvement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00984"/>
            <a:ext cx="1164031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355848"/>
            <a:ext cx="2999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Extract claim fields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2152" y="3355848"/>
            <a:ext cx="2724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5–10 minutes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355848"/>
            <a:ext cx="2542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8–12 seconds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4" y="3355848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B55"/>
                </a:solidFill>
                <a:latin typeface="Calibri"/>
              </a:rPr>
              <a:t>~50× faster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85032"/>
            <a:ext cx="11640312" cy="38404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739896"/>
            <a:ext cx="2999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Validate rules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2152" y="3739896"/>
            <a:ext cx="2724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3–5 minutes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3739896"/>
            <a:ext cx="2542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&lt; 1 second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3739896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B55"/>
                </a:solidFill>
                <a:latin typeface="Calibri"/>
              </a:rPr>
              <a:t>300× faster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069080"/>
            <a:ext cx="1164031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4123944"/>
            <a:ext cx="2999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Look up policy context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4123944"/>
            <a:ext cx="2724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5–15 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4123944"/>
            <a:ext cx="2542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2–4 seconds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61704" y="4123944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B55"/>
                </a:solidFill>
                <a:latin typeface="Calibri"/>
              </a:rPr>
              <a:t>~200× faster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453128"/>
            <a:ext cx="11640312" cy="38404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" y="4507992"/>
            <a:ext cx="2999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Total before human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02152" y="4507992"/>
            <a:ext cx="2724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15–30 minutes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507992"/>
            <a:ext cx="2542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~15–20 seconds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61704" y="4507992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B55"/>
                </a:solidFill>
                <a:latin typeface="Calibri"/>
              </a:rPr>
              <a:t>~100× faster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837176"/>
            <a:ext cx="1164031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4892040"/>
            <a:ext cx="2999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Audit trail completeness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02152" y="4892040"/>
            <a:ext cx="2724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Inconsistent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512" y="4892040"/>
            <a:ext cx="2542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100 % JSON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61704" y="4892040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B55"/>
                </a:solidFill>
                <a:latin typeface="Calibri"/>
              </a:rPr>
              <a:t>Fully auditable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221224"/>
            <a:ext cx="11640312" cy="38404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472" y="5276088"/>
            <a:ext cx="2999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Decision consistency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5276088"/>
            <a:ext cx="2724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2512" y="5276088"/>
            <a:ext cx="2542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Deterministic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61704" y="5276088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B55"/>
                </a:solidFill>
                <a:latin typeface="Calibri"/>
              </a:rPr>
              <a:t>Fully reproducible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Challenges &amp; Learnings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Seven production-grade challenges resolved during development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143000"/>
            <a:ext cx="3749039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143000"/>
            <a:ext cx="3749039" cy="25603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170432"/>
            <a:ext cx="360273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Image-based PDFs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35608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3333"/>
                </a:solidFill>
                <a:latin typeface="Calibri"/>
              </a:rPr>
              <a:t>❌ pdfplumber extracts no text from scanned PDFs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801368"/>
            <a:ext cx="3602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9B55"/>
                </a:solidFill>
                <a:latin typeface="Calibri"/>
              </a:rPr>
              <a:t>✅ Text-length guard + graceful MANUAL_REVIEW fallback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143000"/>
            <a:ext cx="3749039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143000"/>
            <a:ext cx="3749039" cy="25603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87952" y="1170432"/>
            <a:ext cx="360273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LangGraph Serialization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7952" y="1435608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3333"/>
                </a:solidFill>
                <a:latin typeface="Calibri"/>
              </a:rPr>
              <a:t>❌ Non-primitive types in ClaimState crashed the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2" y="1801368"/>
            <a:ext cx="3602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9B55"/>
                </a:solidFill>
                <a:latin typeface="Calibri"/>
              </a:rPr>
              <a:t>✅ Agents store only strings/dicts/lists; json.dumps validation at each node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8" y="1143000"/>
            <a:ext cx="3749039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73568" y="1143000"/>
            <a:ext cx="3749039" cy="25603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170432"/>
            <a:ext cx="360273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ChromaDB Corruption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435608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3333"/>
                </a:solidFill>
                <a:latin typeface="Calibri"/>
              </a:rPr>
              <a:t>❌ Interrupted ingestion left partial, misleading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801368"/>
            <a:ext cx="3602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9B55"/>
                </a:solidFill>
                <a:latin typeface="Calibri"/>
              </a:rPr>
              <a:t>✅ --reset flag to wipe and recreate; chunk count validation post-ingestion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2468880"/>
            <a:ext cx="3749039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2468880"/>
            <a:ext cx="3749039" cy="25603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2496312"/>
            <a:ext cx="360273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LLM JSON Parsing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2761488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3333"/>
                </a:solidFill>
                <a:latin typeface="Calibri"/>
              </a:rPr>
              <a:t>❌ GPT-4o-mini wrapped JSON in markdown code fences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" y="3127248"/>
            <a:ext cx="3602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9B55"/>
                </a:solidFill>
                <a:latin typeface="Calibri"/>
              </a:rPr>
              <a:t>✅ 3-step cleaning: direct parse → strip fences → regex extract → fallback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2468880"/>
            <a:ext cx="3749039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2468880"/>
            <a:ext cx="3749039" cy="25603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87952" y="2496312"/>
            <a:ext cx="360273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Session State Race Cond.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2761488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3333"/>
                </a:solidFill>
                <a:latin typeface="Calibri"/>
              </a:rPr>
              <a:t>❌ Two concurrent submissions interleaved UI 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87952" y="3127248"/>
            <a:ext cx="3602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9B55"/>
                </a:solidFill>
                <a:latin typeface="Calibri"/>
              </a:rPr>
              <a:t>✅ processing_lock flag; claim_id correlation; explicit state reset on new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73568" y="2468880"/>
            <a:ext cx="3749039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3568" y="2468880"/>
            <a:ext cx="3749039" cy="25603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2496312"/>
            <a:ext cx="360273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EC2 Docker Permissions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2761488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3333"/>
                </a:solidFill>
                <a:latin typeface="Calibri"/>
              </a:rPr>
              <a:t>❌ ubuntu user not in docker group on fresh EC2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3127248"/>
            <a:ext cx="3602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9B55"/>
                </a:solidFill>
                <a:latin typeface="Calibri"/>
              </a:rPr>
              <a:t>✅ usermod -aG docker ubuntu step added to DEPLOYMENT.md checklist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" y="3794760"/>
            <a:ext cx="3749039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6032" y="3794760"/>
            <a:ext cx="3749039" cy="256032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3822192"/>
            <a:ext cx="360273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Cold Start Latency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184" y="4087368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3333"/>
                </a:solidFill>
                <a:latin typeface="Calibri"/>
              </a:rPr>
              <a:t>❌ First claim took 25–40 s — blank spinner confused users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" y="4453128"/>
            <a:ext cx="3602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9B55"/>
                </a:solidFill>
                <a:latin typeface="Calibri"/>
              </a:rPr>
              <a:t>✅ Module-level initialisation; Streamlit progress spinner with status text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5148072"/>
            <a:ext cx="11676888" cy="1691640"/>
          </a:xfrm>
          <a:prstGeom prst="rect">
            <a:avLst/>
          </a:prstGeom>
          <a:solidFill>
            <a:srgbClr val="E8F4FD"/>
          </a:solidFill>
          <a:ln w="12700">
            <a:solidFill>
              <a:srgbClr val="0A6E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52212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6EBD"/>
                </a:solidFill>
                <a:latin typeface="Calibri"/>
              </a:rPr>
              <a:t>Key Learnings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" y="5550408"/>
            <a:ext cx="11430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LangGraph StateGraph requires all state values to be JSON-serialisable — design state contracts early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RAG citation quality depends heavily on chunk size and overlap — 800/100 chars proved optimal for policy docs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Graceful degradation must be designed in from day one — every external call needs a fallback path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2E"/>
                </a:solidFill>
                <a:latin typeface="Calibri"/>
              </a:rPr>
              <a:t>• Human-in-the-loop UI needs clear confidence signals — confidence badges and policy citations drive reviewer trust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1A8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Future Scope &amp; Enhancements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11612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F4FD"/>
                </a:solidFill>
                <a:latin typeface="Calibri"/>
              </a:rPr>
              <a:t>Building on ClaimIQ's foundation — the roadmap ahead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03320" cy="1719072"/>
          </a:xfrm>
          <a:prstGeom prst="rect">
            <a:avLst/>
          </a:prstGeom>
          <a:solidFill>
            <a:srgbClr val="1E2A3A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1344168"/>
            <a:ext cx="344728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D"/>
                </a:solidFill>
                <a:latin typeface="Calibri"/>
              </a:rPr>
              <a:t>🔍  AWS Textract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783080"/>
            <a:ext cx="344728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Replace pdfplumber with AWS Textract to handle image-based (scanned) PDFs without requiring a digital text layer — critical for real-world claim submissions.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2231" y="1234440"/>
            <a:ext cx="3703320" cy="1719072"/>
          </a:xfrm>
          <a:prstGeom prst="rect">
            <a:avLst/>
          </a:prstGeom>
          <a:solidFill>
            <a:srgbClr val="1E2A3A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0247" y="1344168"/>
            <a:ext cx="344728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D"/>
                </a:solidFill>
                <a:latin typeface="Calibri"/>
              </a:rPr>
              <a:t>🔄  Live Policy Document Updates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0247" y="1783080"/>
            <a:ext cx="344728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Trigger automatic RAG re-ingestion via S3 event notifications when new policy PDFs are uploaded — keeping the knowledge base always current with zero manual intervention.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234440"/>
            <a:ext cx="3703320" cy="1719072"/>
          </a:xfrm>
          <a:prstGeom prst="rect">
            <a:avLst/>
          </a:prstGeom>
          <a:solidFill>
            <a:srgbClr val="1E2A3A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344168"/>
            <a:ext cx="344728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D"/>
                </a:solidFill>
                <a:latin typeface="Calibri"/>
              </a:rPr>
              <a:t>🧠  Feedback Loop &amp; Fine-Tuning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783080"/>
            <a:ext cx="344728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Capture human override decisions as training signal to iteratively improve the Recommendation Agent's prompt and reduce override rates over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118104"/>
            <a:ext cx="3703320" cy="1719072"/>
          </a:xfrm>
          <a:prstGeom prst="rect">
            <a:avLst/>
          </a:prstGeom>
          <a:solidFill>
            <a:srgbClr val="1E2A3A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3227832"/>
            <a:ext cx="344728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D"/>
                </a:solidFill>
                <a:latin typeface="Calibri"/>
              </a:rPr>
              <a:t>🏥  Multi-Plan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" y="3666744"/>
            <a:ext cx="344728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Parameterise the RAG retriever to filter by insurance plan code — enabling a single ClaimIQ instance to serve multiple insurance products simultaneously.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42231" y="3118104"/>
            <a:ext cx="3703320" cy="1719072"/>
          </a:xfrm>
          <a:prstGeom prst="rect">
            <a:avLst/>
          </a:prstGeom>
          <a:solidFill>
            <a:srgbClr val="1E2A3A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7" y="3227832"/>
            <a:ext cx="344728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D"/>
                </a:solidFill>
                <a:latin typeface="Calibri"/>
              </a:rPr>
              <a:t>📊  Explainability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7" y="3666744"/>
            <a:ext cx="344728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Visualise which specific policy chunks influenced each recommendation and display their cosine similarity scores — full AI decision explainability for compliance teams.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0144" y="3118104"/>
            <a:ext cx="3703320" cy="1719072"/>
          </a:xfrm>
          <a:prstGeom prst="rect">
            <a:avLst/>
          </a:prstGeom>
          <a:solidFill>
            <a:srgbClr val="1E2A3A"/>
          </a:solidFill>
          <a:ln w="15240">
            <a:solidFill>
              <a:srgbClr val="1A8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3227832"/>
            <a:ext cx="344728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D"/>
                </a:solidFill>
                <a:latin typeface="Calibri"/>
              </a:rPr>
              <a:t>🔔  Notification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666744"/>
            <a:ext cx="344728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Email / Slack alerts to reviewers when high-priority claims arrive (experimental treatments, amounts &gt; $25K) — reducing review turnaround for critical cases.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A6E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0" y="6309360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ClaimIQ Squad  •  Sushilkumar | Anupam | Ashish | Bishwajit | Arvind | Azim  •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