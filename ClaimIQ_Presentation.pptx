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88952" cy="73152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114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ClaimIQ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F4FD"/>
                </a:solidFill>
                <a:latin typeface="Calibri"/>
              </a:rPr>
              <a:t>AI-Powered Healthcare Claim Review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  <a:latin typeface="Calibri"/>
              </a:rPr>
              <a:t>Intelligent · Transparent · Human-Supervised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8F4FD"/>
                </a:solidFill>
                <a:latin typeface="Calibri"/>
              </a:rPr>
              <a:t>AWS AI &amp; ML Capstone Project  |  June 28,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0400"/>
            <a:ext cx="10908792" cy="384048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18688"/>
            <a:ext cx="27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218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218688"/>
            <a:ext cx="8549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84448"/>
            <a:ext cx="109087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3016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63016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Sushilkumar Nikam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63016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Team Lead, Architect &amp; AI/ML Engineer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59935"/>
            <a:ext cx="10908792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05655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05655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Anupam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105655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RAG Pipeline Engineer &amp; Data Engineer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35424"/>
            <a:ext cx="109087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81144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58114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Ashish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58114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AI/ML Engineer &amp; LangGraph Workflow Architect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010912"/>
            <a:ext cx="10908792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05663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566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Bishwajit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505663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Full Stack Developer, AI/ML Engineer &amp; AWS Infrastructure Engineer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486400"/>
            <a:ext cx="1090879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53212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321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Arvind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86200" y="553212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AI/ML Engineer &amp; Backend Developer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5961888"/>
            <a:ext cx="10908792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6007607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6007607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Azim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6007607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AI/ML Engineer &amp; Backend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Healthcare claim processing is broken — and expensive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66"/>
                </a:solidFill>
                <a:latin typeface="Calibri"/>
              </a:rPr>
              <a:t>Insurance carriers spend $30–$50 per claim in manual processing costs. Even a 10 % reduction translates to billions in annual savings.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10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⏱  Processing Delays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2140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15–30 days average per claim due to manual review queues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73736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10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❌  High Error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52544" y="212140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Manual data entry mistakes in ICD-10 / CPT coding cause incorrect rejections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173736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105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⚖  Inconsistency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2140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Different adjusters reach different decisions on identical claims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040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📋  Poor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58444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Decisions tracked via paper notes and email chains — not auditable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1104" y="320040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🔍  Fraud Exposure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2544" y="358444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Manual reviewers cannot cross-reference all historical claims simultaneously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7888" y="3200400"/>
            <a:ext cx="384048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9328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😓  Reviewer Burnout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8" y="3584448"/>
            <a:ext cx="365760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High-volume, repetitive review tasks reduce accuracy over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760720"/>
            <a:ext cx="11640312" cy="841248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815584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Core Gap: No unified system that can extract, validate, retrieve policy context, recommend a decision, and present it to a human — in a single automated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Selected Theme &amp; Domain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66"/>
                </a:solidFill>
                <a:latin typeface="Calibri"/>
              </a:rP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6EBD"/>
                </a:solidFill>
                <a:latin typeface="Calibri"/>
              </a:rPr>
              <a:t>🏥  Healthcare &amp; Insurance Technology (HealthTech / InsurTech)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9659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Insurance claim review automation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HIPAA-compliant data processing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AI-assisted decision support for claims adjusters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Fraud detection and compliance enforcement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669280" cy="2560320"/>
          </a:xfrm>
          <a:prstGeom prst="rect">
            <a:avLst/>
          </a:prstGeom>
          <a:solidFill>
            <a:srgbClr val="E8F4FD"/>
          </a:solidFill>
          <a:ln w="1905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344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55566"/>
                </a:solidFill>
                <a:latin typeface="Calibri"/>
              </a:rPr>
              <a:t>Theme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630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6EBD"/>
                </a:solidFill>
                <a:latin typeface="Calibri"/>
              </a:rPr>
              <a:t>🤖  Agentic AI with Human-in-the-Loop Oversight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Multiple specialised AI agents collaborate in a defined workflow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Each agent performs a distinct role: extract → validate → recommend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LangGraph orchestrates the multi-agent pipeline as a StateGraph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Mandatory human approval gate before every final decision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All decisions are auditable and overridable by human reviewers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86200"/>
            <a:ext cx="11640312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95935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EBD"/>
                </a:solidFill>
                <a:latin typeface="Calibri"/>
              </a:rPr>
              <a:t>Why This Domain + Theme Combination?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25112"/>
            <a:ext cx="112745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Healthcare claims are document-heavy, rule-intensive, and high-stakes — ideal for structured multi-agent AI.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Policy rules change frequently — RAG lets the system stay current without retraining the model.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• Financial and patient-care consequences demand human oversight — the Human-in-the-Loop gate ensures AI is advisory, not authoritative.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ClaimIQ — end-to-end AI claim review in under 20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66"/>
                </a:solidFill>
                <a:latin typeface="Calibri"/>
              </a:rPr>
              <a:t>ClaimIQ is an AI-powered, multi-agent healthcare claim review system that orchestrates four specialised AI agents using LangGraph, enhanced by a RAG knowledge base of insurance policy documents, culminating in a human-supervised final decision.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2651760" cy="16916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019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Agent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214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OCR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334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F4FD"/>
                </a:solidFill>
                <a:latin typeface="Calibri"/>
              </a:rPr>
              <a:t>pdfplumber +
GPT-4o-mini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906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Extracts 15 structured
fields from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1" y="25146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79" y="1828800"/>
            <a:ext cx="2651760" cy="16916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9019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Agent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1214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Validation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6334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F4FD"/>
                </a:solidFill>
                <a:latin typeface="Calibri"/>
              </a:rPr>
              <a:t>Rule-based
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0906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Checks 12 fields,
codes &amp; 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3872" y="25146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828800"/>
            <a:ext cx="2651760" cy="16916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19019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8F4FD"/>
                </a:solidFill>
                <a:latin typeface="Calibri"/>
              </a:rPr>
              <a:t>Agent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9" y="21214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Recommendation
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79" y="26334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E8F4FD"/>
                </a:solidFill>
                <a:latin typeface="Calibri"/>
              </a:rPr>
              <a:t>RAG + GPT-4o-mini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79" y="30906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Policy-grounded
APPROVE/REJECT/REVIEW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4232" y="251460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400" y="1828800"/>
            <a:ext cx="2651760" cy="1691640"/>
          </a:xfrm>
          <a:prstGeom prst="rect">
            <a:avLst/>
          </a:prstGeom>
          <a:solidFill>
            <a:srgbClr val="009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19019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Human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2121408"/>
            <a:ext cx="24688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Human Approval
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26334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Streamlit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3090672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Reviewer confirms
or overrides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703320"/>
            <a:ext cx="28346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776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🔍 Transparent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08736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Every recommendation cites the exact policy clause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6976" y="3703320"/>
            <a:ext cx="28346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28416" y="3776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👤 Human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8416" y="408736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AI never finalises a claim unilaterally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3703320"/>
            <a:ext cx="28346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3776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🛡 Graceful Degradation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408736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Works even if OpenAI or S3 is unavailable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62288" y="3703320"/>
            <a:ext cx="28346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53728" y="37764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📁 Full Audit Trail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53728" y="4087368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Every decision stored as timestamped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Three-layer design: UI → Orchestration →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" y="1325880"/>
            <a:ext cx="960120" cy="12344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417320"/>
            <a:ext cx="9052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USER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" y="2788920"/>
            <a:ext cx="960120" cy="12344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" y="2880360"/>
            <a:ext cx="9052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ORCHESTRATION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4572000"/>
            <a:ext cx="960120" cy="12344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" y="4663440"/>
            <a:ext cx="9052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SERVICES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34440" y="1280160"/>
            <a:ext cx="10652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1389888"/>
            <a:ext cx="2377440" cy="804672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1426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Process New Claim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  <a:latin typeface="Calibri"/>
              </a:rPr>
              <a:t>Upload PDF / select sample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77639" y="1389888"/>
            <a:ext cx="2377440" cy="804672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79" y="1426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Review &amp; 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79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  <a:latin typeface="Calibri"/>
              </a:rPr>
              <a:t>Human Approval Gate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389888"/>
            <a:ext cx="2377440" cy="804672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426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Claims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  <a:latin typeface="Calibri"/>
              </a:rPr>
              <a:t>Dashboard &amp; 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720" y="1389888"/>
            <a:ext cx="2377440" cy="804672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4264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About / Info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7373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66"/>
                </a:solidFill>
                <a:latin typeface="Calibri"/>
              </a:rPr>
              <a:t>System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8CD8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34440" y="2743200"/>
            <a:ext cx="10652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LangGraph StateGraph  (ClaimState)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090672"/>
            <a:ext cx="2377440" cy="80467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44752" y="324612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OCR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34015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3090672"/>
            <a:ext cx="2377440" cy="80467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50791" y="324612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Validation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34015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3090672"/>
            <a:ext cx="2377440" cy="80467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56832" y="324612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Recommendation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8552" y="340156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89720" y="3090672"/>
            <a:ext cx="2377440" cy="804672"/>
          </a:xfrm>
          <a:prstGeom prst="rect">
            <a:avLst/>
          </a:prstGeom>
          <a:solidFill>
            <a:srgbClr val="009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62872" y="3246120"/>
            <a:ext cx="22311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Human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114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8CD8"/>
                </a:solidFill>
                <a:latin typeface="Calibri"/>
              </a:rPr>
              <a:t>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4114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8CD8"/>
                </a:solidFill>
                <a:latin typeface="Calibri"/>
              </a:rPr>
              <a:t>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1148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8CD8"/>
                </a:solidFill>
                <a:latin typeface="Calibri"/>
              </a:rPr>
              <a:t>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0" y="4407408"/>
            <a:ext cx="32004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81328" y="446227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AI Services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81328" y="4773168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OpenAI GPT-4o-mini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81328" y="5120640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text-embedding-3-small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00600" y="4407408"/>
            <a:ext cx="32004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10328" y="446227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Knowledge Base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10328" y="4773168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ChromaDB Vector Store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10328" y="5120640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3 Policy PDFs (~150 chunks)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0" y="4407408"/>
            <a:ext cx="3200400" cy="13716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9327" y="4462272"/>
            <a:ext cx="2980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Storage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7" y="4773168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Local JSON (data/outputs/)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327" y="5120640"/>
            <a:ext cx="298094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• AWS S3 (optional cloud)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5888736"/>
            <a:ext cx="11795760" cy="77724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5943600"/>
            <a:ext cx="116128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Flow: PDF Upload → OCR → Validation → RAG Retrieval → LLM Recommendation → Human Approval → S3 Storage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Agent Workflow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LangGraph StateGraph — four nodes, one shared ClaimState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164592" cy="1298448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" y="1188720"/>
            <a:ext cx="11411711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43584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EBD"/>
                </a:solidFill>
                <a:latin typeface="Calibri"/>
              </a:rPr>
              <a:t>Agent 1 — OCR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435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66"/>
                </a:solidFill>
                <a:latin typeface="Calibri"/>
              </a:rPr>
              <a:t>src/agents/ocr_agent.py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Opens PDF with pdfplumber, extracts raw text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Calls GPT-4o-mini with response_format=json_object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Returns 15 structured fields (patient, provider, codes, amounts)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Sets confidence: HIGH (12+ fields) / MEDIUM / 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78608"/>
            <a:ext cx="164592" cy="1298448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2578608"/>
            <a:ext cx="11411711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3347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8CD8"/>
                </a:solidFill>
                <a:latin typeface="Calibri"/>
              </a:rPr>
              <a:t>Agent 2 — Validation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6334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66"/>
                </a:solidFill>
                <a:latin typeface="Calibri"/>
              </a:rPr>
              <a:t>src/agents/validation_agent.py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962656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Checks 6 mandatory fields — any missing → severity HIGH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Checks 6 important fields — missing → severity MEDIUM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Validates ICD-10, CPT, NPI formats via regex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Validates date logic: treatment ≤ claim date, filed within 365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68496"/>
            <a:ext cx="164592" cy="1298448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3968496"/>
            <a:ext cx="11411711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023359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EBD"/>
                </a:solidFill>
                <a:latin typeface="Calibri"/>
              </a:rPr>
              <a:t>Agent 3 — Recommendation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023359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66"/>
                </a:solidFill>
                <a:latin typeface="Calibri"/>
              </a:rPr>
              <a:t>src/agents/recommendation_agent.py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52544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Fast-path rules: duplicate, dental, experimental, &gt;$25K → instant decision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Retrieves top-5 policy chunks from ChromaDB via cosine similarity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Calls GPT-4o-mini with claim data + policy context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Returns APPROVE / REJECT / MANUAL_REVIEW with citations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358384"/>
            <a:ext cx="164592" cy="1298448"/>
          </a:xfrm>
          <a:prstGeom prst="rect">
            <a:avLst/>
          </a:prstGeom>
          <a:solidFill>
            <a:srgbClr val="009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5358384"/>
            <a:ext cx="11411711" cy="1298448"/>
          </a:xfrm>
          <a:prstGeom prst="rect">
            <a:avLst/>
          </a:prstGeom>
          <a:solidFill>
            <a:srgbClr val="FFFFFF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41324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B55"/>
                </a:solidFill>
                <a:latin typeface="Calibri"/>
              </a:rPr>
              <a:t>Human Approval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4132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555566"/>
                </a:solidFill>
                <a:latin typeface="Calibri"/>
              </a:rPr>
              <a:t>app.py + finalize_claim()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74243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Pipeline pauses at awaiting_human_approval = True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Reviewer sees extracted fields, validation results, AI recommendation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Can Approve, Reject, or Override (override requires written justification)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finalize_claim() persists decision as timestamped JSON + S3 upload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Retrieval-Augmented Generation — grounding AI in current policy documents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16403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66"/>
                </a:solidFill>
                <a:latin typeface="Calibri"/>
              </a:rPr>
              <a:t>Policy documents change — RAG lets the system use current rules without retraining the model. Every recommendation includes the exact policy clause that justified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09928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INGESTION PIPELINE  (scripts/ingest_documents.py)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210312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2148840"/>
            <a:ext cx="19568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📄 Policy PDFs
(3 documents)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7" y="23317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42032" y="205740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2148840"/>
            <a:ext cx="19568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📝 Text Extraction
(pdfplumber)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3317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9744" y="205740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82896" y="2148840"/>
            <a:ext cx="19568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✂️  Text Chunking
800 chars / 100 overlap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1" y="23317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77455" y="2057400"/>
            <a:ext cx="21031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0607" y="2148840"/>
            <a:ext cx="19568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🔢 OpenAI Embeddings
text-embedding-3-small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3" y="2331720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5168" y="2057400"/>
            <a:ext cx="2103120" cy="91440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148840"/>
            <a:ext cx="19568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🗄 ChromaDB
~150 chunks persisted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108960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RETRIEVAL PIPELINE  (at claim review time)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456432"/>
            <a:ext cx="210312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529584"/>
            <a:ext cx="19568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📋 Claim Fields
(extracted)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95727" y="37764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42032" y="3456432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15184" y="3529584"/>
            <a:ext cx="19568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🔍 Build Query String
diagnosis + procedure
+ amount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7764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9744" y="3456432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82896" y="3529584"/>
            <a:ext cx="19568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🔢 Query Embedding
text-embedding-3-small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37764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77455" y="3456432"/>
            <a:ext cx="21031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0607" y="3529584"/>
            <a:ext cx="19568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📊 ChromaDB Search
top-5 cosine similarity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3" y="3776472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8CD8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45168" y="3456432"/>
            <a:ext cx="2103120" cy="1005840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3529584"/>
            <a:ext cx="19568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💡 Inject into
LLM Prompt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599431"/>
            <a:ext cx="5303520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65429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Embedding Model Details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4983479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Model: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983479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text-embedding-3-small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212079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Dimensions: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212079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1,536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40679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Retrieval top-k: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5440679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5  (cosine similarity)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669279"/>
            <a:ext cx="1554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Chunk size: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11680" y="5669279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800 chars / 100 overlap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35040" y="4599431"/>
            <a:ext cx="5943600" cy="1353312"/>
          </a:xfrm>
          <a:prstGeom prst="rect">
            <a:avLst/>
          </a:prstGeom>
          <a:solidFill>
            <a:srgbClr val="E8F4FD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72200" y="4654295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🛡 Fallback Strategy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2200" y="4983479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If ChromaDB is unavailable or index is empty, the retriever returns a hard-coded FALLBACK_POLICY_CONTEXT with key rules extracted from all three policy documents — ensuring the Recommendation Agent always has some policy grounding.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AWS Deployment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Two patterns: EC2 Docker Compose (dev) and ECS Fargate (production)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57784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5577840" cy="34747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1795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Pattern A — EC2 + Docker Compose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5819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Instance: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8191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Ubuntu 22.04, t3.medium (2 vCPU / 4 GB)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476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Storage: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94767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20 GB gp3 EBS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3134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Region: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31343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us-east-1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6791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Access: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6791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Port 8501 (Streamlit) / 80+443 (Nginx)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0449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6EBD"/>
                </a:solidFill>
                <a:latin typeface="Calibri"/>
              </a:rPr>
              <a:t>Use Case: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04495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Development, demos, low cost (~$30/mo)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474720"/>
            <a:ext cx="5303520" cy="14630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5204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ourier New"/>
              </a:rPr>
              <a:t>services:
  claimiq:
    build: .
    ports: ["8501:8501"]
    env_file: .env
    volumes: [./data:/app/data]
    restart: unless-stopped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36792" y="1143000"/>
            <a:ext cx="5577840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36792" y="1143000"/>
            <a:ext cx="5577840" cy="347472"/>
          </a:xfrm>
          <a:prstGeom prst="rect">
            <a:avLst/>
          </a:prstGeom>
          <a:solidFill>
            <a:srgbClr val="009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117957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Pattern B — ECS Fargate + ALB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158191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Compute: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158191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ECS Fargate — 1 vCPU / 2 GB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194767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Registry: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194767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Amazon ECR — Docker image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31343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Secrets: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231343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AWS Secrets Manager (OpenAI key)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26791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Load Bal.: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67919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ALB → port 80/443 → target 8501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304495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Logs: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5552" y="304495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CloudWatch /ecs/claimiq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41071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B55"/>
                </a:solidFill>
                <a:latin typeface="Calibri"/>
              </a:rPr>
              <a:t>Use Case: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3410712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Production auto-scaling (~$40/mo)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5715000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6EBD"/>
                </a:solidFill>
                <a:latin typeface="Calibri"/>
              </a:rPr>
              <a:t>AWS Services Used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EC2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10512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ECS Fargate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36976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0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ECR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18304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73168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S3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99632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54496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Secrets Manager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35824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IAM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62288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17152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ALB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43616" y="6062472"/>
            <a:ext cx="1371600" cy="475488"/>
          </a:xfrm>
          <a:prstGeom prst="rect">
            <a:avLst/>
          </a:prstGeom>
          <a:solidFill>
            <a:srgbClr val="E8F4FD"/>
          </a:solidFill>
          <a:ln w="1016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698480" y="6117336"/>
            <a:ext cx="1261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6EBD"/>
                </a:solidFill>
                <a:latin typeface="Calibri"/>
              </a:rPr>
              <a:t>CloudWatch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Demo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Streamlit web application — five key screens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24028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" y="1243584"/>
            <a:ext cx="2130552" cy="16459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6616" y="127101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" y="127101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" y="127101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81328"/>
            <a:ext cx="2057400" cy="91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36776"/>
            <a:ext cx="1691640" cy="91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92224"/>
            <a:ext cx="205740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947672"/>
            <a:ext cx="1691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2194560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BD"/>
                </a:solidFill>
                <a:latin typeface="Calibri"/>
              </a:rPr>
              <a:t>1. Home — Process New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2514600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File upload drag-and-drop zone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OR select from 10 pre-built sample claims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Sidebar: OpenAI ✅  ChromaDB ✅  S3 ✅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Quick Actions: Generate Data / Build RAG Index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24328" y="1188720"/>
            <a:ext cx="224028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79192" y="1243584"/>
            <a:ext cx="2130552" cy="16459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6624" y="127101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98064" y="127101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89504" y="127101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15768" y="1481328"/>
            <a:ext cx="2057400" cy="91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1636776"/>
            <a:ext cx="1691640" cy="91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15768" y="1792224"/>
            <a:ext cx="205740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15768" y="1947672"/>
            <a:ext cx="1691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24328" y="2194560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BD"/>
                </a:solidFill>
                <a:latin typeface="Calibri"/>
              </a:rPr>
              <a:t>2. AI Processing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4328" y="2514600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4-step stepper: OCR → Validate → Recommend → Human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Extracted fields card with ✅ / ⚠️ per field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Validation severity badge (LOW / MEDIUM / HIGH)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AI recommendation with confidence + citations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74336" y="1188720"/>
            <a:ext cx="224028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1243584"/>
            <a:ext cx="2130552" cy="16459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56632" y="127101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48072" y="127101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39512" y="127101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65776" y="1481328"/>
            <a:ext cx="2057400" cy="91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65776" y="1636776"/>
            <a:ext cx="1691640" cy="91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65776" y="1792224"/>
            <a:ext cx="205740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65776" y="1947672"/>
            <a:ext cx="1691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74336" y="2194560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BD"/>
                </a:solidFill>
                <a:latin typeface="Calibri"/>
              </a:rPr>
              <a:t>3. Human Approval Interface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2514600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Radio: Approve | Reject | Override Approve | Override Reject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Notes textarea (mandatory for overrides)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Submit button disabled until selection made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Override warning banner with justification prompt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657600"/>
            <a:ext cx="224028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9184" y="3712463"/>
            <a:ext cx="2130552" cy="16459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6616" y="373989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056" y="373989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9496" y="373989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3950208"/>
            <a:ext cx="2057400" cy="91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4105656"/>
            <a:ext cx="1691640" cy="91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4261104"/>
            <a:ext cx="205740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416552"/>
            <a:ext cx="1691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4663440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BD"/>
                </a:solidFill>
                <a:latin typeface="Calibri"/>
              </a:rPr>
              <a:t>4. Claims History Dashboard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4983480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Total / Approved / Rejected / Manual Review counts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AI Agreement Rate metric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Sortable colour-coded table (green/red/yellow)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Export functionality for audit records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24328" y="3657600"/>
            <a:ext cx="2240280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79192" y="3712463"/>
            <a:ext cx="2130552" cy="16459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06624" y="373989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798064" y="373989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889504" y="3739896"/>
            <a:ext cx="64008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15768" y="3950208"/>
            <a:ext cx="2057400" cy="91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15768" y="4105656"/>
            <a:ext cx="1691640" cy="914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15768" y="4261104"/>
            <a:ext cx="205740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15768" y="4416552"/>
            <a:ext cx="1691640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24328" y="4663440"/>
            <a:ext cx="2240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6EBD"/>
                </a:solidFill>
                <a:latin typeface="Calibri"/>
              </a:rPr>
              <a:t>5. About / System Info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24328" y="4983480"/>
            <a:ext cx="2240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Technology stack with version info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Pipeline diagram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Supported claim scenarios and expected outcomes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1A1A2E"/>
                </a:solidFill>
                <a:latin typeface="Calibri"/>
              </a:rPr>
              <a:t>• Team credits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Outcomes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100 % accuracy on all 10 synthetic claim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2697480" cy="132588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94.1 %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9280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  <a:latin typeface="Calibri"/>
              </a:rPr>
              <a:t>Average OCR
Field Extraction Rate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143000"/>
            <a:ext cx="2697480" cy="132588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801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89280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  <a:latin typeface="Calibri"/>
              </a:rPr>
              <a:t>Validation Severity
Accuracy (10/10)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143000"/>
            <a:ext cx="2697480" cy="132588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2801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9280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  <a:latin typeface="Calibri"/>
              </a:rPr>
              <a:t>Recommendation
Accuracy (10/10)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15400" y="1143000"/>
            <a:ext cx="2697480" cy="132588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28016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&lt; 20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892807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F4FD"/>
                </a:solidFill>
                <a:latin typeface="Calibri"/>
              </a:rPr>
              <a:t>End-to-End
Processing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606040"/>
            <a:ext cx="116403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EBD"/>
                </a:solidFill>
                <a:latin typeface="Calibri"/>
              </a:rPr>
              <a:t>Business Impact — Manual Process vs ClaimIQ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53512"/>
            <a:ext cx="11640312" cy="34747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999232"/>
            <a:ext cx="29992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2152" y="2999232"/>
            <a:ext cx="27249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Manual 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999232"/>
            <a:ext cx="2542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ClaimIQ (AI)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1704" y="2999232"/>
            <a:ext cx="2816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Improvement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00984"/>
            <a:ext cx="1164031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3355848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Extract claim fields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335584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5–10 minutes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3355848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8–12 seconds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1704" y="335584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~50× faster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685032"/>
            <a:ext cx="11640312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739896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Validate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02152" y="3739896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3–5 minutes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739896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&lt; 1 second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3739896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300× faster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069080"/>
            <a:ext cx="1164031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4123944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Look up policy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4123944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5–15 minutes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4123944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2–4 seconds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61704" y="4123944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~200× faster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453128"/>
            <a:ext cx="11640312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472" y="4507992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Total before human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02152" y="4507992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15–30 minutes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4507992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~15–20 seconds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4507992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~100× faster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837176"/>
            <a:ext cx="11640312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7472" y="4892040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Audit trail completeness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02152" y="4892040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Inconsistent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4892040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100 % JSON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61704" y="4892040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Fully auditable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5221224"/>
            <a:ext cx="11640312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7472" y="5276088"/>
            <a:ext cx="29992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Decision consistency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02152" y="527608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Variable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5276088"/>
            <a:ext cx="2542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Deterministic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61704" y="527608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55"/>
                </a:solidFill>
                <a:latin typeface="Calibri"/>
              </a:rPr>
              <a:t>Fully reproducible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Challenges &amp;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Seven production-grade challenges resolved during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14300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" y="117043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Image-based PDFs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" y="143560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pdfplumber extracts no text from scanned PDFs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" y="180136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Text-length guard + graceful MANUAL_REVIEW fallback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14300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14300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87952" y="117043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LangGraph Serialization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87952" y="143560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Non-primitive types in ClaimState crashed the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87952" y="180136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Agents store only strings/dicts/lists; json.dumps validation at each node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114300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114300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17043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ChromaDB Corruption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43560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Interrupted ingestion left partial, misleading index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80136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--reset flag to wipe and recreate; chunk count validation post-ingestion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246888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246888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249631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LLM JSON Parsing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" y="276148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GPT-4o-mini wrapped JSON in markdown code fences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" y="312724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3-step cleaning: direct parse → strip fences → regex extract → fallback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46888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246888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249631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Session State Race Cond.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7952" y="276148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Two concurrent submissions interleaved UI 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7952" y="312724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processing_lock flag; claim_id correlation; explicit state reset on new claim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3568" y="246888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73568" y="246888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0" y="249631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EC2 Docker Permissions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76148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ubuntu user not in docker group on fresh EC2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312724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usermod -aG docker ubuntu step added to DEPLOYMENT.md checklist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3794760"/>
            <a:ext cx="37490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6032" y="3794760"/>
            <a:ext cx="3749039" cy="256032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9184" y="3822192"/>
            <a:ext cx="36027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Cold Start Latency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" y="4087368"/>
            <a:ext cx="3602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3333"/>
                </a:solidFill>
                <a:latin typeface="Calibri"/>
              </a:rPr>
              <a:t>❌ First claim took 25–40 s — blank spinner confused users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" y="4453128"/>
            <a:ext cx="3602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9B55"/>
                </a:solidFill>
                <a:latin typeface="Calibri"/>
              </a:rPr>
              <a:t>✅ Module-level initialisation; Streamlit progress spinner with status text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5148072"/>
            <a:ext cx="11676888" cy="1691640"/>
          </a:xfrm>
          <a:prstGeom prst="rect">
            <a:avLst/>
          </a:prstGeom>
          <a:solidFill>
            <a:srgbClr val="E8F4FD"/>
          </a:solidFill>
          <a:ln w="12700">
            <a:solidFill>
              <a:srgbClr val="0A6E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5221224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EBD"/>
                </a:solidFill>
                <a:latin typeface="Calibri"/>
              </a:rPr>
              <a:t>Key Learnings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5550408"/>
            <a:ext cx="11430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LangGraph StateGraph requires all state values to be JSON-serialisable — design state contracts early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RAG citation quality depends heavily on chunk size and overlap — 800/100 chars proved optimal for policy docs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Graceful degradation must be designed in from day one — every external call needs a fallback path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• Human-in-the-loop UI needs clear confidence signals — confidence badges and policy citations drive reviewer trust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1A8C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Scope &amp;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13232"/>
            <a:ext cx="11612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8F4FD"/>
                </a:solidFill>
                <a:latin typeface="Calibri"/>
              </a:rPr>
              <a:t>Building on ClaimIQ's foundation — the roadmap ahead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1344168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🔍  AWS Textract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1783080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Replace pdfplumber with AWS Textract to handle image-based (scanned) PDFs without requiring a digital text layer — critical for real-world claim submissions.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42231" y="1234440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7" y="1344168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🔄  Live Policy Document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7" y="1783080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Trigger automatic RAG re-ingestion via S3 event notifications when new policy PDFs are uploaded — keeping the knowledge base always current with zero manual intervention.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10144" y="1234440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44168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🧠  Feedback Loop &amp; Fine-Tuning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783080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Capture human override decisions as training signal to iteratively improve the Recommendation Agent's prompt and reduce override rates over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18104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3227832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🏥  Multi-Plan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" y="3666744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Parameterise the RAG retriever to filter by insurance plan code — enabling a single ClaimIQ instance to serve multiple insurance products simultaneously.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42231" y="3118104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70247" y="3227832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📊  Explainability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0247" y="3666744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Visualise which specific policy chunks influenced each recommendation and display their cosine similarity scores — full AI decision explainability for compliance teams.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3118104"/>
            <a:ext cx="3703320" cy="1719072"/>
          </a:xfrm>
          <a:prstGeom prst="rect">
            <a:avLst/>
          </a:prstGeom>
          <a:solidFill>
            <a:srgbClr val="1E2A3A"/>
          </a:solidFill>
          <a:ln w="15240">
            <a:solidFill>
              <a:srgbClr val="1A8C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3227832"/>
            <a:ext cx="344728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F4FD"/>
                </a:solidFill>
                <a:latin typeface="Calibri"/>
              </a:rPr>
              <a:t>🔔  Notification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666744"/>
            <a:ext cx="344728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Calibri"/>
              </a:rPr>
              <a:t>Email / Slack alerts to reviewers when high-priority claims arrive (experimental treatments, amounts &gt; $25K) — reducing review turnaround for critical cases.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A6E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6309360"/>
            <a:ext cx="121889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ClaimIQ Squad  •  Sushilkumar | Anupam | Ashish | Bishwajit | Arvind | Azim  •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